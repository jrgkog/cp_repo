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34032C7-642F-441E-9850-D912E70DB44A}">
  <a:tblStyle styleId="{334032C7-642F-441E-9850-D912E70DB44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cd45981a1f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g3cd45981a1f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cd45981a1f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10" Type="http://schemas.openxmlformats.org/officeDocument/2006/relationships/image" Target="../media/image3.png"/><Relationship Id="rId9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1417320"/>
            <a:ext cx="54864" cy="192024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" y="132588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DE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ABDE0"/>
                </a:solidFill>
                <a:latin typeface="Calibri"/>
                <a:ea typeface="Calibri"/>
                <a:cs typeface="Calibri"/>
                <a:sym typeface="Calibri"/>
              </a:rPr>
              <a:t>Compiler Design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85800" y="17830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Case Study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85800" y="242316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Tamil Language Semantic Analyzer using ANTLR4             Group 18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85800" y="3017520"/>
            <a:ext cx="7772400" cy="27432"/>
          </a:xfrm>
          <a:prstGeom prst="rect">
            <a:avLst/>
          </a:prstGeom>
          <a:solidFill>
            <a:srgbClr val="2A4D8F"/>
          </a:solidFill>
          <a:ln cap="flat" cmpd="sng" w="12700">
            <a:solidFill>
              <a:srgbClr val="2A4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85800" y="3108960"/>
            <a:ext cx="7772400" cy="1325880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1E3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868680" y="31546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68680" y="34747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KARTHIK G</a:t>
            </a:r>
            <a:r>
              <a:rPr b="0" i="0" lang="en-US" sz="1000" u="none" cap="none" strike="noStrike">
                <a:solidFill>
                  <a:srgbClr val="4B6EA8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0" i="1" lang="en-US" sz="10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CB.SC.U4CSE23270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68680" y="3840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DEEPAK S</a:t>
            </a:r>
            <a:r>
              <a:rPr b="0" i="0" lang="en-US" sz="1000" u="none" cap="none" strike="noStrike">
                <a:solidFill>
                  <a:srgbClr val="4B6EA8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0" i="1" lang="en-US" sz="10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CB.SC.U4CSE23267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800600" y="34747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PRASANTH PM</a:t>
            </a:r>
            <a:r>
              <a:rPr b="0" i="0" lang="en-US" sz="1000" u="none" cap="none" strike="noStrike">
                <a:solidFill>
                  <a:srgbClr val="4B6EA8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0" i="1" lang="en-US" sz="10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CB.SC.U4CSE23263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10230" y="4709155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77A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577AA"/>
                </a:solidFill>
                <a:latin typeface="Calibri"/>
                <a:ea typeface="Calibri"/>
                <a:cs typeface="Calibri"/>
                <a:sym typeface="Calibri"/>
              </a:rPr>
              <a:t>Amrita Vishwa Vidyapeetham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D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EC9"/>
          </a:solidFill>
          <a:ln cap="flat" cmpd="sng" w="12700">
            <a:solidFill>
              <a:srgbClr val="1A4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DE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ABDE0"/>
                </a:solidFill>
                <a:latin typeface="Calibri"/>
                <a:ea typeface="Calibri"/>
                <a:cs typeface="Calibri"/>
                <a:sym typeface="Calibri"/>
              </a:rPr>
              <a:t>Compiler Design · Tamil Language Semantic Analyzer · Amrita Vishwa Vidyapeetham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228600" y="777240"/>
            <a:ext cx="42062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D9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228600" y="777240"/>
            <a:ext cx="4206240" cy="411480"/>
          </a:xfrm>
          <a:prstGeom prst="rect">
            <a:avLst/>
          </a:prstGeom>
          <a:solidFill>
            <a:srgbClr val="1A4EC9"/>
          </a:solidFill>
          <a:ln cap="flat" cmpd="sng" w="12700">
            <a:solidFill>
              <a:srgbClr val="1A4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65760" y="77724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65760" y="1252728"/>
            <a:ext cx="3931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Tamil language parser and semantic analyzer built using ANTLR4 grammar rules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709160" y="777240"/>
            <a:ext cx="42062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D9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4709160" y="777240"/>
            <a:ext cx="4206240" cy="411480"/>
          </a:xfrm>
          <a:prstGeom prst="rect">
            <a:avLst/>
          </a:prstGeom>
          <a:solidFill>
            <a:srgbClr val="1A4EC9"/>
          </a:solidFill>
          <a:ln cap="flat" cmpd="sng" w="12700">
            <a:solidFill>
              <a:srgbClr val="1A4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846320" y="77724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846320" y="1252728"/>
            <a:ext cx="3931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Validate Tamil sentences for syntactic structure and subject-verb agreement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228600" y="2743200"/>
            <a:ext cx="42062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D9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228600" y="2743200"/>
            <a:ext cx="4206240" cy="41148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365760" y="274320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65760" y="3218688"/>
            <a:ext cx="3931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ANTLR4 · Java · Swing GUI · Unicode Tamil Block (U+0B80–U+0BFF)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709160" y="2743200"/>
            <a:ext cx="42062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D9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709160" y="2743200"/>
            <a:ext cx="4206240" cy="41148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4846320" y="274320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846320" y="3218688"/>
            <a:ext cx="3931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Parse tree visualization + semantic validation with VALID / INVALID status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D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EC9"/>
          </a:solidFill>
          <a:ln cap="flat" cmpd="sng" w="12700">
            <a:solidFill>
              <a:srgbClr val="1A4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Unicode Mapping — Tamil Block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DE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ABDE0"/>
                </a:solidFill>
                <a:latin typeface="Calibri"/>
                <a:ea typeface="Calibri"/>
                <a:cs typeface="Calibri"/>
                <a:sym typeface="Calibri"/>
              </a:rPr>
              <a:t>Compiler Design · Tamil Language Semantic Analyzer · Amrita Vishwa Vidyapeetham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28600" y="777240"/>
            <a:ext cx="4114800" cy="4023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D9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228600" y="777240"/>
            <a:ext cx="4114800" cy="365760"/>
          </a:xfrm>
          <a:prstGeom prst="rect">
            <a:avLst/>
          </a:prstGeom>
          <a:solidFill>
            <a:srgbClr val="1A4EC9"/>
          </a:solidFill>
          <a:ln cap="flat" cmpd="sng" w="12700">
            <a:solidFill>
              <a:srgbClr val="1A4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365760" y="7772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Tamil Unicode Range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65760" y="1234440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U+0B80 – U+0BFF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b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ANTLR Rule: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65760" y="1920240"/>
            <a:ext cx="3749040" cy="4572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75488" y="1993392"/>
            <a:ext cx="35295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TAMIL_WORD : [\u0B80-\u0BFF]+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65760" y="248716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Categories: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65760" y="2743200"/>
            <a:ext cx="37490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Independent Vowels (Uyirezhuthu)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Consonants (Mei + Uyir-Mei)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Dependent Vowel Signs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Tamil Numbers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572000" y="777240"/>
            <a:ext cx="4343400" cy="402336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4709160" y="86868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Unicode Block Structure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3" name="Google Shape;73;p5"/>
          <p:cNvGraphicFramePr/>
          <p:nvPr/>
        </p:nvGraphicFramePr>
        <p:xfrm>
          <a:off x="4663440" y="12618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{334032C7-642F-441E-9850-D912E70DB44A}</a:tableStyleId>
              </a:tblPr>
              <a:tblGrid>
                <a:gridCol w="2011675"/>
                <a:gridCol w="2103125"/>
              </a:tblGrid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Range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4E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4EC9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D3F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U+0B85–U+0B94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D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D3F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Independent Vowels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D38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D3F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U+0B95–U+0BB9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D3F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Consonants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40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D3F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U+0BBE–U+0BCD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D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D3F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Vowel Signs (Mn)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D38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D3F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U+0BE6–U+0BEF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D3F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Tamil Digits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40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D3F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U+0BF0–U+0BFF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D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D3F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Tamil Symbols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D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D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EC9"/>
          </a:solidFill>
          <a:ln cap="flat" cmpd="sng" w="12700">
            <a:solidFill>
              <a:srgbClr val="1A4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Dependent Vowel Signs &amp; Normalization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DE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ABDE0"/>
                </a:solidFill>
                <a:latin typeface="Calibri"/>
                <a:ea typeface="Calibri"/>
                <a:cs typeface="Calibri"/>
                <a:sym typeface="Calibri"/>
              </a:rPr>
              <a:t>Compiler Design · Tamil Language Semantic Analyzer · Amrita Vishwa Vidyapeetham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228600" y="777240"/>
            <a:ext cx="4206240" cy="4023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D9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228600" y="777240"/>
            <a:ext cx="4206240" cy="365760"/>
          </a:xfrm>
          <a:prstGeom prst="rect">
            <a:avLst/>
          </a:prstGeom>
          <a:solidFill>
            <a:srgbClr val="1A4EC9"/>
          </a:solidFill>
          <a:ln cap="flat" cmpd="sng" w="12700">
            <a:solidFill>
              <a:srgbClr val="1A4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365760" y="7772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Unicode Normalization Notes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365760" y="1234440"/>
            <a:ext cx="38404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Tamil uses pre-composed forms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Users may type decomposed sequences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Visual:  கா = U+0B95 + U+0BBE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ANTLR treats both differently unless normalized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663440" y="777240"/>
            <a:ext cx="4251960" cy="402336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4800600" y="8686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Combined Tamil Unicode Tokens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800600" y="1261872"/>
            <a:ext cx="3931920" cy="12344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4910328" y="1335024"/>
            <a:ext cx="3712464" cy="1088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TAMIL_CHAR   : [\u0B80-\u0BFF] 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TAMIL_LETTER : [\u0B85-\u0BB9\u0BBE-\u0BCD] 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TAMIL_NUMBER : [\u0BE6-\u0BEF]+ 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2" name="Google Shape;92;p6"/>
          <p:cNvGraphicFramePr/>
          <p:nvPr/>
        </p:nvGraphicFramePr>
        <p:xfrm>
          <a:off x="4800600" y="2606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{334032C7-642F-441E-9850-D912E70DB44A}</a:tableStyleId>
              </a:tblPr>
              <a:tblGrid>
                <a:gridCol w="2011675"/>
                <a:gridCol w="1920250"/>
              </a:tblGrid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Token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4E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Unicode Range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4EC9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D3F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Tamil Letters (Lo)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D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D3F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U+0B85 – U+0BB9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D38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D3F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Vowel Signs (Mn)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D3F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U+0BBE – U+0BCD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F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D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EC9"/>
          </a:solidFill>
          <a:ln cap="flat" cmpd="sng" w="12700">
            <a:solidFill>
              <a:srgbClr val="1A4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Syntactic Rules — Grammar Structure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DE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ABDE0"/>
                </a:solidFill>
                <a:latin typeface="Calibri"/>
                <a:ea typeface="Calibri"/>
                <a:cs typeface="Calibri"/>
                <a:sym typeface="Calibri"/>
              </a:rPr>
              <a:t>Compiler Design · Tamil Language Semantic Analyzer · Amrita Vishwa Vidyapeetham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228600" y="850392"/>
            <a:ext cx="365760" cy="365760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228600" y="8503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685800" y="804672"/>
            <a:ext cx="822960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0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685800" y="804672"/>
            <a:ext cx="45720" cy="126187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822960" y="85953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EC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4EC9"/>
                </a:solidFill>
                <a:latin typeface="Calibri"/>
                <a:ea typeface="Calibri"/>
                <a:cs typeface="Calibri"/>
                <a:sym typeface="Calibri"/>
              </a:rPr>
              <a:t>File Rule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822960" y="1115568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Input must contain exactly one sentence. Parsing ends at End Of File.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892040" y="859536"/>
            <a:ext cx="3886200" cy="4572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5001768" y="932688"/>
            <a:ext cx="36667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file : sentence EOF 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228600" y="2240280"/>
            <a:ext cx="365760" cy="365760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228600" y="22402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685800" y="2194560"/>
            <a:ext cx="822960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0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685800" y="2194560"/>
            <a:ext cx="45720" cy="126187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822960" y="224942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EC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4EC9"/>
                </a:solidFill>
                <a:latin typeface="Calibri"/>
                <a:ea typeface="Calibri"/>
                <a:cs typeface="Calibri"/>
                <a:sym typeface="Calibri"/>
              </a:rPr>
              <a:t>Sentence Rule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822960" y="2505456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Optional question word → one main clause → optional linked clauses → optional punctuation.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892040" y="2249424"/>
            <a:ext cx="3886200" cy="10972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5001768" y="2322576"/>
            <a:ext cx="3666744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sentence : QUESTION_WORD? clause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(LINK_WORD clause)*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(PUNCT | QUESTION_MARK)?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228600" y="3630168"/>
            <a:ext cx="365760" cy="365760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228600" y="36301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85800" y="3584448"/>
            <a:ext cx="822960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0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685800" y="3584448"/>
            <a:ext cx="45720" cy="126187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822960" y="363931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EC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4EC9"/>
                </a:solidFill>
                <a:latin typeface="Calibri"/>
                <a:ea typeface="Calibri"/>
                <a:cs typeface="Calibri"/>
                <a:sym typeface="Calibri"/>
              </a:rPr>
              <a:t>Clause Rule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822960" y="3895344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WITH subject: Subject + Objects + Adverbs + Verb | WITHOUT subject: Objects + Adverbs + Verb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892040" y="3639312"/>
            <a:ext cx="3886200" cy="10972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5001768" y="3712464"/>
            <a:ext cx="3666744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clause : subject object* adverb* verbPhrase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     | object* adverb* verbPhrase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D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EC9"/>
          </a:solidFill>
          <a:ln cap="flat" cmpd="sng" w="12700">
            <a:solidFill>
              <a:srgbClr val="1A4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Syntactic Rules — Continued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DE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ABDE0"/>
                </a:solidFill>
                <a:latin typeface="Calibri"/>
                <a:ea typeface="Calibri"/>
                <a:cs typeface="Calibri"/>
                <a:sym typeface="Calibri"/>
              </a:rPr>
              <a:t>Compiler Design · Tamil Language Semantic Analyzer · Amrita Vishwa Vidyapeetham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228600" y="804672"/>
            <a:ext cx="411480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0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228600" y="804672"/>
            <a:ext cx="4114800" cy="347472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320040" y="859536"/>
            <a:ext cx="256032" cy="256032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320040" y="85953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649224" y="85039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338328" y="1207008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Example: நான்  அவன்  அழகான சிறுவன்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338328" y="1499616"/>
            <a:ext cx="3895344" cy="475488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448056" y="1572768"/>
            <a:ext cx="3675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subject : ADJ* PRONOUN | ADJ* TAMIL_WORD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228600" y="2221992"/>
            <a:ext cx="411480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0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228600" y="2221992"/>
            <a:ext cx="4114800" cy="347472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320040" y="2276856"/>
            <a:ext cx="256032" cy="256032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320040" y="227685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49224" y="226771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338328" y="2624328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Example: புத்தகம்  ௧௨  123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338328" y="2916936"/>
            <a:ext cx="3895344" cy="475488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48056" y="2990088"/>
            <a:ext cx="3675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object : nounPhrase | TAMIL_NUMBER | NUMBER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228600" y="3639312"/>
            <a:ext cx="411480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0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228600" y="3639312"/>
            <a:ext cx="4114800" cy="347472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320040" y="3694176"/>
            <a:ext cx="256032" cy="256032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320040" y="369417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649224" y="368503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Verb Phrase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338328" y="4041648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Example: வந்தான்  படித்தார்  ெசன்றோம்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338328" y="4334256"/>
            <a:ext cx="3895344" cy="475488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448056" y="4407408"/>
            <a:ext cx="3675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verbPhrase : TENSE_SUFFIX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709160" y="804672"/>
            <a:ext cx="411480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0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4709160" y="804672"/>
            <a:ext cx="4114800" cy="347472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4800600" y="859536"/>
            <a:ext cx="256032" cy="256032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4800600" y="85953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5129784" y="85039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Noun Phrase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818888" y="1207008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Example: புதிய புத்தகம்  மரத்தில்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4818888" y="1499616"/>
            <a:ext cx="3895344" cy="475488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4928616" y="1572768"/>
            <a:ext cx="3675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nounPhrase : ADJ* TAMIL_WORD POSTPOSITION?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709160" y="2221992"/>
            <a:ext cx="411480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0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4709160" y="2221992"/>
            <a:ext cx="4114800" cy="347472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4800600" y="2276856"/>
            <a:ext cx="256032" cy="256032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4800600" y="227685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129784" y="226771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Adverb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4818888" y="2624328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Example: ேவகமாக  ெமல்ல  ெமதுவாக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818888" y="2916936"/>
            <a:ext cx="3895344" cy="475488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4928616" y="2990088"/>
            <a:ext cx="3675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adverb : ADV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D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EC9"/>
          </a:solidFill>
          <a:ln cap="flat" cmpd="sng" w="12700">
            <a:solidFill>
              <a:srgbClr val="1A4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 Rules — Subject-Verb Agreement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DE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ABDE0"/>
                </a:solidFill>
                <a:latin typeface="Calibri"/>
                <a:ea typeface="Calibri"/>
                <a:cs typeface="Calibri"/>
                <a:sym typeface="Calibri"/>
              </a:rPr>
              <a:t>Compiler Design · Tamil Language Semantic Analyzer · Amrita Vishwa Vidyapeetham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7" name="Google Shape;187;p9"/>
          <p:cNvGraphicFramePr/>
          <p:nvPr/>
        </p:nvGraphicFramePr>
        <p:xfrm>
          <a:off x="274320" y="8046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{334032C7-642F-441E-9850-D912E70DB44A}</a:tableStyleId>
              </a:tblPr>
              <a:tblGrid>
                <a:gridCol w="1645925"/>
                <a:gridCol w="1828800"/>
                <a:gridCol w="2651750"/>
                <a:gridCol w="2468875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Subject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4E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Verb Ending Rule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4E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 Example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4E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Invalid Example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4EC9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நான்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ends ேன்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4785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478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நான் வந்ேதன் ✓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நான் வந்தான் 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நாKகள்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ends Mாம்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4785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478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நாKகள் ெசன்றோம் ✓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நாKகள் ெசன்றார் 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அவர்கள்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plural verb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4785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478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அவர்கள் வந்தார்கள் ✓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அவர்கள் வந்தான் 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அவன்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ends ான்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4785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478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அவன் வந்தான் ✓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அவன் வந்தாள் 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அவள்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ends ாள்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4785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478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அவள் வந்தாள் ✓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அவள் வந்தான் 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noun + ன்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ends ான்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4785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478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மாணவன் வந்தான் ✓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மாணவன் வந்தாள் 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noun + ள்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ends ாள்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4785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478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மாணவி வந்தாள் ✓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மாணவி வந்தான் 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D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EC9"/>
          </a:solidFill>
          <a:ln cap="flat" cmpd="sng" w="12700">
            <a:solidFill>
              <a:srgbClr val="1A4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Tamil.g4 — Grammar File Highlights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DE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ABDE0"/>
                </a:solidFill>
                <a:latin typeface="Calibri"/>
                <a:ea typeface="Calibri"/>
                <a:cs typeface="Calibri"/>
                <a:sym typeface="Calibri"/>
              </a:rPr>
              <a:t>Compiler Design · Tamil Language Semantic Analyzer · Amrita Vishwa Vidyapeetham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228600" y="777240"/>
            <a:ext cx="4114800" cy="4023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D9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228600" y="777240"/>
            <a:ext cx="4114800" cy="347472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365760" y="77724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Lexer Token Categories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347472" y="1207008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PRONOUN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1792224" y="1207008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நான் | நாKகள் | அவன் | அவள் | அவர்கள்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347472" y="154533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TENSE_SUFFIX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1792224" y="1545336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வந்தான் வந்தாள் வந்ேதன் படித்தான்…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347472" y="1883664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QUESTION_WORD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1792224" y="1883664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எது | எKகு | எப்படி | ஏன் | எப்போது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347472" y="2221992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LINK_WORD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1792224" y="222199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ஆனால் | ஆகேவ | எனேவ | அதனால்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347472" y="256032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ADJ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1792224" y="25603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அழகான | புதிய | பைழய | நல்ல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347472" y="2898648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ADV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1792224" y="2898648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ேவகமாக | ெமல்ல | ெமதுவாக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347472" y="323697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POSTPOSITION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1792224" y="3236976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உள்ள | ேமல் | இல் | க்கு | இன்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347472" y="3575304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TAMIL_WORD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1792224" y="3575304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(TAMIL_CLUSTER)+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347472" y="3913632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1792224" y="391363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[ \t\r\n]+ -&gt; skip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347472" y="425196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ERROR_CHAR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1792224" y="425196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 (catch-all)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4572000" y="777240"/>
            <a:ext cx="4343400" cy="402336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4709160" y="86868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TENSE_SUFFIX Examples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4709160" y="12801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வந்தான்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6766560" y="12801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வந்தாள்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4709160" y="1609344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வந்தார்கள்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6766560" y="1609344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வந்ேதன்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4709160" y="193852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படித்தான்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766560" y="193852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படித்தார்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709160" y="226771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படித்தார்கள்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6766560" y="226771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ஓடினார்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4709160" y="2596896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உள்ளது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6766560" y="2596896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சாப்பிட்ேடன்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4709160" y="29260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வாKகினார்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6766560" y="29260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ெசன்றார்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4709160" y="3255264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ெசன்றார்கள்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6766560" y="3255264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ெசன்றோம்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4709160" y="35844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நடந்தார்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6766560" y="35844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வந்தில்ைல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4709160" y="39136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ேவண்டும்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6766560" y="39136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தொடKகும்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4709160" y="4242816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கட்டினர்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6766560" y="4242816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பாடினார்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D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EC9"/>
          </a:solidFill>
          <a:ln cap="flat" cmpd="sng" w="12700">
            <a:solidFill>
              <a:srgbClr val="1A4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Main.java — Architecture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DE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ABDE0"/>
                </a:solidFill>
                <a:latin typeface="Calibri"/>
                <a:ea typeface="Calibri"/>
                <a:cs typeface="Calibri"/>
                <a:sym typeface="Calibri"/>
              </a:rPr>
              <a:t>Compiler Design · Tamil Language Semantic Analyzer · Amrita Vishwa Vidyapeetham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228600" y="804672"/>
            <a:ext cx="28346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D9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228600" y="804672"/>
            <a:ext cx="2834640" cy="365760"/>
          </a:xfrm>
          <a:prstGeom prst="rect">
            <a:avLst/>
          </a:prstGeom>
          <a:solidFill>
            <a:srgbClr val="1A4EC9"/>
          </a:solidFill>
          <a:ln cap="flat" cmpd="sng" w="12700">
            <a:solidFill>
              <a:srgbClr val="1A4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320040" y="804672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Unicode Constants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320040" y="1225296"/>
            <a:ext cx="265176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Pronoun and verb-ending strings defined as Unicode escape sequences for robust cross-platform handling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3273552" y="804672"/>
            <a:ext cx="28346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D9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3273552" y="804672"/>
            <a:ext cx="2834640" cy="365760"/>
          </a:xfrm>
          <a:prstGeom prst="rect">
            <a:avLst/>
          </a:prstGeom>
          <a:solidFill>
            <a:srgbClr val="1A4EC9"/>
          </a:solidFill>
          <a:ln cap="flat" cmpd="sng" w="12700">
            <a:solidFill>
              <a:srgbClr val="1A4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3364992" y="804672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Sentence Loop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3364992" y="1225296"/>
            <a:ext cx="265176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Reads each line from input.txt, creates CharStream → TamilLexer → CommonTokenStream → TamilParser per sentence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6318504" y="804672"/>
            <a:ext cx="28346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D9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6318504" y="804672"/>
            <a:ext cx="2834640" cy="365760"/>
          </a:xfrm>
          <a:prstGeom prst="rect">
            <a:avLst/>
          </a:prstGeom>
          <a:solidFill>
            <a:srgbClr val="1A4EC9"/>
          </a:solidFill>
          <a:ln cap="flat" cmpd="sng" w="12700">
            <a:solidFill>
              <a:srgbClr val="1A4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6409944" y="804672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Error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6409944" y="1225296"/>
            <a:ext cx="265176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Checks for ERROR_CHAR tokens (invalid characters). Skips semantic analysis on parse errors.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228600" y="2788920"/>
            <a:ext cx="28346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D9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228600" y="2788920"/>
            <a:ext cx="2834640" cy="36576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320040" y="278892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320040" y="3209544"/>
            <a:ext cx="265176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Extracts subject.textVal and verbPhrase.verbVal from parse tree. Calls agreementViolated() for validation.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3273552" y="2788920"/>
            <a:ext cx="28346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D9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3273552" y="2788920"/>
            <a:ext cx="2834640" cy="36576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3364992" y="278892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Parse Tree Console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3364992" y="3209544"/>
            <a:ext cx="265176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printTree() recursively walks parse tree printing rule names and token values with indentation.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6318504" y="2788920"/>
            <a:ext cx="28346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D9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6318504" y="2788920"/>
            <a:ext cx="2834640" cy="36576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6409944" y="278892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Swing GUI Viewer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6409944" y="3209544"/>
            <a:ext cx="265176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JTabbedPane with one tab per sentence. ANTLR4 TreeViewer with zoom in/out/reset/fit controls.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D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EC9"/>
          </a:solidFill>
          <a:ln cap="flat" cmpd="sng" w="12700">
            <a:solidFill>
              <a:srgbClr val="1A4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 — Valid Sentences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DE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ABDE0"/>
                </a:solidFill>
                <a:latin typeface="Calibri"/>
                <a:ea typeface="Calibri"/>
                <a:cs typeface="Calibri"/>
                <a:sym typeface="Calibri"/>
              </a:rPr>
              <a:t>Compiler Design · Tamil Language Semantic Analyzer · Amrita Vishwa Vidyapeetham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D9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594360" y="914400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Semantic Status: VALID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640080" y="1417320"/>
            <a:ext cx="77724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Sentences pass when subject-verb agreement is correctly maintained.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Examples of valid sentences:</a:t>
            </a:r>
            <a:b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ராஜா புதிய புத்தகம் படித்தார்.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அவர் ேவகமாக ஓடினார்.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நான் ௧௨௩ பழKகள் சாப்பிட்ேடன்.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நல்ல மாணவன் படித்தான்.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நாKகள் பள்ளிக்கு ெசன்றோம்.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D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EC9"/>
          </a:solidFill>
          <a:ln cap="flat" cmpd="sng" w="12700">
            <a:solidFill>
              <a:srgbClr val="1A4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 — Invalid Sentences (Agreement Errors)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DE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ABDE0"/>
                </a:solidFill>
                <a:latin typeface="Calibri"/>
                <a:ea typeface="Calibri"/>
                <a:cs typeface="Calibri"/>
                <a:sym typeface="Calibri"/>
              </a:rPr>
              <a:t>Compiler Design · Tamil Language Semantic Analyzer · Amrita Vishwa Vidyapeetham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D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594360" y="914400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Semantic Status: INVALID — Agreement Error Detected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594360" y="1508760"/>
            <a:ext cx="7955280" cy="822960"/>
          </a:xfrm>
          <a:prstGeom prst="rect">
            <a:avLst/>
          </a:prstGeom>
          <a:solidFill>
            <a:srgbClr val="FFF5F5"/>
          </a:solidFill>
          <a:ln cap="flat" cmpd="sng" w="12700">
            <a:solidFill>
              <a:srgbClr val="FFC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594360" y="1508760"/>
            <a:ext cx="45720" cy="82296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"/>
          <p:cNvSpPr/>
          <p:nvPr/>
        </p:nvSpPr>
        <p:spPr>
          <a:xfrm>
            <a:off x="777240" y="155448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நான் வந்தார்கள்.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777240" y="192024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1st person with plural-formal verb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594360" y="2514600"/>
            <a:ext cx="7955280" cy="822960"/>
          </a:xfrm>
          <a:prstGeom prst="rect">
            <a:avLst/>
          </a:prstGeom>
          <a:solidFill>
            <a:srgbClr val="FFF5F5"/>
          </a:solidFill>
          <a:ln cap="flat" cmpd="sng" w="12700">
            <a:solidFill>
              <a:srgbClr val="FFC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594360" y="2514600"/>
            <a:ext cx="45720" cy="82296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777240" y="256032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அவன் வந்தார்கள்.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777240" y="292608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Masculine singular with plural verb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594360" y="3520440"/>
            <a:ext cx="7955280" cy="822960"/>
          </a:xfrm>
          <a:prstGeom prst="rect">
            <a:avLst/>
          </a:prstGeom>
          <a:solidFill>
            <a:srgbClr val="FFF5F5"/>
          </a:solidFill>
          <a:ln cap="flat" cmpd="sng" w="12700">
            <a:solidFill>
              <a:srgbClr val="FFC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594360" y="3520440"/>
            <a:ext cx="45720" cy="82296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777240" y="356616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அவர்கள் வந்தான்.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777240" y="393192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Plural subject with masculine singular verb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D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EC9"/>
          </a:solidFill>
          <a:ln cap="flat" cmpd="sng" w="12700">
            <a:solidFill>
              <a:srgbClr val="1A4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 — Invalid Sentences (Continued)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DE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ABDE0"/>
                </a:solidFill>
                <a:latin typeface="Calibri"/>
                <a:ea typeface="Calibri"/>
                <a:cs typeface="Calibri"/>
                <a:sym typeface="Calibri"/>
              </a:rPr>
              <a:t>Compiler Design · Tamil Language Semantic Analyzer · Amrita Vishwa Vidyapeetham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D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4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594360" y="914400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Semantic Status: INVALID — Agreement Error Detected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594360" y="1508760"/>
            <a:ext cx="7955280" cy="822960"/>
          </a:xfrm>
          <a:prstGeom prst="rect">
            <a:avLst/>
          </a:prstGeom>
          <a:solidFill>
            <a:srgbClr val="FFF5F5"/>
          </a:solidFill>
          <a:ln cap="flat" cmpd="sng" w="12700">
            <a:solidFill>
              <a:srgbClr val="FFC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4"/>
          <p:cNvSpPr/>
          <p:nvPr/>
        </p:nvSpPr>
        <p:spPr>
          <a:xfrm>
            <a:off x="594360" y="1508760"/>
            <a:ext cx="45720" cy="82296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4"/>
          <p:cNvSpPr/>
          <p:nvPr/>
        </p:nvSpPr>
        <p:spPr>
          <a:xfrm>
            <a:off x="777240" y="155448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நான் ெசன்றார்கள்.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777240" y="192024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1st person with plural-formal verb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594360" y="2514600"/>
            <a:ext cx="7955280" cy="822960"/>
          </a:xfrm>
          <a:prstGeom prst="rect">
            <a:avLst/>
          </a:prstGeom>
          <a:solidFill>
            <a:srgbClr val="FFF5F5"/>
          </a:solidFill>
          <a:ln cap="flat" cmpd="sng" w="12700">
            <a:solidFill>
              <a:srgbClr val="FFC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4"/>
          <p:cNvSpPr/>
          <p:nvPr/>
        </p:nvSpPr>
        <p:spPr>
          <a:xfrm>
            <a:off x="594360" y="2514600"/>
            <a:ext cx="45720" cy="82296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777240" y="256032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அவன் படித்தார்கள்.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777240" y="292608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Masculine singular with plural-formal verb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594360" y="3520440"/>
            <a:ext cx="7955280" cy="822960"/>
          </a:xfrm>
          <a:prstGeom prst="rect">
            <a:avLst/>
          </a:prstGeom>
          <a:solidFill>
            <a:srgbClr val="FFF5F5"/>
          </a:solidFill>
          <a:ln cap="flat" cmpd="sng" w="12700">
            <a:solidFill>
              <a:srgbClr val="FFC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"/>
          <p:cNvSpPr/>
          <p:nvPr/>
        </p:nvSpPr>
        <p:spPr>
          <a:xfrm>
            <a:off x="594360" y="3520440"/>
            <a:ext cx="45720" cy="82296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777240" y="356616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அவர்கள் படித்தான்.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777240" y="393192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Plural subject with masculine singular verb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D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EC9"/>
          </a:solidFill>
          <a:ln cap="flat" cmpd="sng" w="12700">
            <a:solidFill>
              <a:srgbClr val="1A4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5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 — Invalid Sentences (Continued)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5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DE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ABDE0"/>
                </a:solidFill>
                <a:latin typeface="Calibri"/>
                <a:ea typeface="Calibri"/>
                <a:cs typeface="Calibri"/>
                <a:sym typeface="Calibri"/>
              </a:rPr>
              <a:t>Compiler Design · Tamil Language Semantic Analyzer · Amrita Vishwa Vidyapeetham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D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5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5"/>
          <p:cNvSpPr/>
          <p:nvPr/>
        </p:nvSpPr>
        <p:spPr>
          <a:xfrm>
            <a:off x="594360" y="914400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Semantic Status: INVALID — Agreement Error Detected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594360" y="1508760"/>
            <a:ext cx="7955280" cy="822960"/>
          </a:xfrm>
          <a:prstGeom prst="rect">
            <a:avLst/>
          </a:prstGeom>
          <a:solidFill>
            <a:srgbClr val="FFF5F5"/>
          </a:solidFill>
          <a:ln cap="flat" cmpd="sng" w="12700">
            <a:solidFill>
              <a:srgbClr val="FFC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594360" y="1508760"/>
            <a:ext cx="45720" cy="82296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777240" y="155448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அவள் வந்தார்கள்.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777240" y="192024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Feminine singular with plural verb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594360" y="2514600"/>
            <a:ext cx="7955280" cy="822960"/>
          </a:xfrm>
          <a:prstGeom prst="rect">
            <a:avLst/>
          </a:prstGeom>
          <a:solidFill>
            <a:srgbClr val="FFF5F5"/>
          </a:solidFill>
          <a:ln cap="flat" cmpd="sng" w="12700">
            <a:solidFill>
              <a:srgbClr val="FFC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594360" y="2514600"/>
            <a:ext cx="45720" cy="82296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777240" y="256032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அவர்கள் ஓடினார்.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777240" y="292608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Plural subject with singular honorific verb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594360" y="3520440"/>
            <a:ext cx="7955280" cy="822960"/>
          </a:xfrm>
          <a:prstGeom prst="rect">
            <a:avLst/>
          </a:prstGeom>
          <a:solidFill>
            <a:srgbClr val="FFF5F5"/>
          </a:solidFill>
          <a:ln cap="flat" cmpd="sng" w="12700">
            <a:solidFill>
              <a:srgbClr val="FFC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5"/>
          <p:cNvSpPr/>
          <p:nvPr/>
        </p:nvSpPr>
        <p:spPr>
          <a:xfrm>
            <a:off x="594360" y="3520440"/>
            <a:ext cx="45720" cy="82296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777240" y="356616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நான் புத்தகம்.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777240" y="393192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Missing verb (parse error)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D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EC9"/>
          </a:solidFill>
          <a:ln cap="flat" cmpd="sng" w="12700">
            <a:solidFill>
              <a:srgbClr val="1A4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6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 Test Cases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6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DE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ABDE0"/>
                </a:solidFill>
                <a:latin typeface="Calibri"/>
                <a:ea typeface="Calibri"/>
                <a:cs typeface="Calibri"/>
                <a:sym typeface="Calibri"/>
              </a:rPr>
              <a:t>Compiler Design · Tamil Language Semantic Analyzer · Amrita Vishwa Vidyapeetham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228600" y="777240"/>
            <a:ext cx="4160520" cy="4023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D9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6"/>
          <p:cNvSpPr/>
          <p:nvPr/>
        </p:nvSpPr>
        <p:spPr>
          <a:xfrm>
            <a:off x="228600" y="777240"/>
            <a:ext cx="4160520" cy="36576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6"/>
          <p:cNvSpPr/>
          <p:nvPr/>
        </p:nvSpPr>
        <p:spPr>
          <a:xfrm>
            <a:off x="365760" y="7772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Valid Sentences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228610" y="1060696"/>
            <a:ext cx="3886200" cy="34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ராஜா புதிய புத்தகம் படித்தார்.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அவர் ேவகமாக ஓடினார்.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அழகான வீடு உள்ளது.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நான் ௧௨௩ பழKகள் சாப்பிட்ேடன்.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அவர் 25 நிமிடம் வாKகினார்.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எப்படி வந்தான்?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நல்ல மாணவன் படித்தான்.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நாKகள் பள்ளிக்கு ெசன்றோம்.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அவர்கள் பள்ளியில் இருந்தார்கள்.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4754880" y="777240"/>
            <a:ext cx="4160520" cy="4023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D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6"/>
          <p:cNvSpPr/>
          <p:nvPr/>
        </p:nvSpPr>
        <p:spPr>
          <a:xfrm>
            <a:off x="4754880" y="777240"/>
            <a:ext cx="4160520" cy="36576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6"/>
          <p:cNvSpPr/>
          <p:nvPr/>
        </p:nvSpPr>
        <p:spPr>
          <a:xfrm>
            <a:off x="4892040" y="7772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Invalid Sentences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4892040" y="1207008"/>
            <a:ext cx="3886200" cy="34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நான் வந்தார்கள்.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அவன் வந்தார்கள்.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அவர்கள் வந்தான்.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நான் ெசன்றார்கள்.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அவன் படித்தார்கள்.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அவர்கள் படித்தான்.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அவள் வந்தார்கள்.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அவர்கள் ஓடினார்.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நான் புத்தகம். (no verb)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D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7"/>
          <p:cNvSpPr/>
          <p:nvPr/>
        </p:nvSpPr>
        <p:spPr>
          <a:xfrm>
            <a:off x="0" y="0"/>
            <a:ext cx="9144000" cy="594300"/>
          </a:xfrm>
          <a:prstGeom prst="rect">
            <a:avLst/>
          </a:prstGeom>
          <a:solidFill>
            <a:srgbClr val="1A4EC9"/>
          </a:solidFill>
          <a:ln cap="flat" cmpd="sng" w="12700">
            <a:solidFill>
              <a:srgbClr val="1A4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7"/>
          <p:cNvSpPr/>
          <p:nvPr/>
        </p:nvSpPr>
        <p:spPr>
          <a:xfrm>
            <a:off x="320040" y="0"/>
            <a:ext cx="8503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 Test Cases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7"/>
          <p:cNvSpPr/>
          <p:nvPr/>
        </p:nvSpPr>
        <p:spPr>
          <a:xfrm>
            <a:off x="0" y="594360"/>
            <a:ext cx="9144000" cy="456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7"/>
          <p:cNvSpPr/>
          <p:nvPr/>
        </p:nvSpPr>
        <p:spPr>
          <a:xfrm>
            <a:off x="0" y="4937760"/>
            <a:ext cx="9144000" cy="2058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7"/>
          <p:cNvSpPr/>
          <p:nvPr/>
        </p:nvSpPr>
        <p:spPr>
          <a:xfrm>
            <a:off x="274320" y="4937760"/>
            <a:ext cx="8595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DE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ABDE0"/>
                </a:solidFill>
                <a:latin typeface="Calibri"/>
                <a:ea typeface="Calibri"/>
                <a:cs typeface="Calibri"/>
                <a:sym typeface="Calibri"/>
              </a:rPr>
              <a:t>Compiler Design · Tamil Language Semantic Analyzer · Amrita Vishwa Vidyapeetham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228600" y="777240"/>
            <a:ext cx="4160400" cy="4023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D9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7"/>
          <p:cNvSpPr/>
          <p:nvPr/>
        </p:nvSpPr>
        <p:spPr>
          <a:xfrm>
            <a:off x="228600" y="777240"/>
            <a:ext cx="4160400" cy="3657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7"/>
          <p:cNvSpPr/>
          <p:nvPr/>
        </p:nvSpPr>
        <p:spPr>
          <a:xfrm>
            <a:off x="365760" y="777240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Valid Sentences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4754880" y="777240"/>
            <a:ext cx="4160400" cy="4023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D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7"/>
          <p:cNvSpPr/>
          <p:nvPr/>
        </p:nvSpPr>
        <p:spPr>
          <a:xfrm>
            <a:off x="4754880" y="777240"/>
            <a:ext cx="4160400" cy="3657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7"/>
          <p:cNvSpPr/>
          <p:nvPr/>
        </p:nvSpPr>
        <p:spPr>
          <a:xfrm>
            <a:off x="4892040" y="777240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Invalid Sentences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4892040" y="1207008"/>
            <a:ext cx="3886200" cy="34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•"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1" name="Google Shape;4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850" y="1207000"/>
            <a:ext cx="1194499" cy="1632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1103" y="1142950"/>
            <a:ext cx="1792949" cy="2166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92636" y="3309425"/>
            <a:ext cx="1529884" cy="158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8599" y="2846500"/>
            <a:ext cx="2044851" cy="2091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20322" y="1142945"/>
            <a:ext cx="1792950" cy="1988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13282" y="1029249"/>
            <a:ext cx="2543918" cy="198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20322" y="3175000"/>
            <a:ext cx="2399151" cy="1857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339732" y="3406978"/>
            <a:ext cx="1529901" cy="1303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